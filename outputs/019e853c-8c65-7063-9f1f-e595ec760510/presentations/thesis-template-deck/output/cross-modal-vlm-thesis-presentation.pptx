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264a28b0934be2" /><Relationship Type="http://schemas.openxmlformats.org/officeDocument/2006/relationships/extended-properties" Target="/docProps/app.xml" Id="Rf304c1db3f70442c" /><Relationship Type="http://schemas.openxmlformats.org/officeDocument/2006/relationships/officeDocument" Target="/ppt/presentation.xml" Id="Rdc67b8b4441d45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68f28d2ef475d"/>
  </p:sldMasterIdLst>
  <p:notesMasterIdLst>
    <p:notesMasterId xmlns:r="http://schemas.openxmlformats.org/officeDocument/2006/relationships" r:id="Re7577f0fd7064e1e"/>
  </p:notesMasterIdLst>
  <p:sldIdLst>
    <p:sldId xmlns:r="http://schemas.openxmlformats.org/officeDocument/2006/relationships" id="256" r:id="R5bc12eb9d36c44e7"/>
    <p:sldId xmlns:r="http://schemas.openxmlformats.org/officeDocument/2006/relationships" id="257" r:id="R0222a6f88fa74f8b"/>
    <p:sldId xmlns:r="http://schemas.openxmlformats.org/officeDocument/2006/relationships" id="258" r:id="Rbefab27ad4404882"/>
    <p:sldId xmlns:r="http://schemas.openxmlformats.org/officeDocument/2006/relationships" id="259" r:id="R5101b91538564ce7"/>
    <p:sldId xmlns:r="http://schemas.openxmlformats.org/officeDocument/2006/relationships" id="260" r:id="R9b357a503e4c41ca"/>
    <p:sldId xmlns:r="http://schemas.openxmlformats.org/officeDocument/2006/relationships" id="261" r:id="Rca09296aab764ef6"/>
    <p:sldId xmlns:r="http://schemas.openxmlformats.org/officeDocument/2006/relationships" id="262" r:id="R4edfee4408084ba8"/>
    <p:sldId xmlns:r="http://schemas.openxmlformats.org/officeDocument/2006/relationships" id="263" r:id="R0095480ed4a4453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5d25ace8d4c89" /><Relationship Type="http://schemas.openxmlformats.org/officeDocument/2006/relationships/slideMaster" Target="/ppt/slideMasters/slideMaster1.xml" Id="Rbbb68f28d2ef475d" /><Relationship Type="http://schemas.openxmlformats.org/officeDocument/2006/relationships/notesMaster" Target="/ppt/notesMasters/notesMaster1.xml" Id="Re7577f0fd7064e1e" /><Relationship Type="http://schemas.openxmlformats.org/officeDocument/2006/relationships/presProps" Target="/ppt/presProps.xml" Id="R44a79f5da703400c" /><Relationship Type="http://schemas.openxmlformats.org/officeDocument/2006/relationships/viewProps" Target="/ppt/viewProps.xml" Id="R7452a0133f1e4c24" /><Relationship Type="http://schemas.openxmlformats.org/officeDocument/2006/relationships/tableStyles" Target="/ppt/tableStyles.xml" Id="Rca2eaad9b4644fa6" /><Relationship Type="http://schemas.openxmlformats.org/officeDocument/2006/relationships/slide" Target="/ppt/slides/slide1.xml" Id="R5bc12eb9d36c44e7" /><Relationship Type="http://schemas.openxmlformats.org/officeDocument/2006/relationships/slide" Target="/ppt/slides/slide2.xml" Id="R0222a6f88fa74f8b" /><Relationship Type="http://schemas.openxmlformats.org/officeDocument/2006/relationships/slide" Target="/ppt/slides/slide3.xml" Id="Rbefab27ad4404882" /><Relationship Type="http://schemas.openxmlformats.org/officeDocument/2006/relationships/slide" Target="/ppt/slides/slide4.xml" Id="R5101b91538564ce7" /><Relationship Type="http://schemas.openxmlformats.org/officeDocument/2006/relationships/slide" Target="/ppt/slides/slide5.xml" Id="R9b357a503e4c41ca" /><Relationship Type="http://schemas.openxmlformats.org/officeDocument/2006/relationships/slide" Target="/ppt/slides/slide6.xml" Id="Rca09296aab764ef6" /><Relationship Type="http://schemas.openxmlformats.org/officeDocument/2006/relationships/slide" Target="/ppt/slides/slide7.xml" Id="R4edfee4408084ba8" /><Relationship Type="http://schemas.openxmlformats.org/officeDocument/2006/relationships/slide" Target="/ppt/slides/slide8.xml" Id="R0095480ed4a4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fa9788b97b45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77e0a15ce47b7" /><Relationship Type="http://schemas.openxmlformats.org/officeDocument/2006/relationships/notesMaster" Target="/ppt/notesMasters/notesMaster1.xml" Id="R48360c4d95db42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f954001cf4149" /><Relationship Type="http://schemas.openxmlformats.org/officeDocument/2006/relationships/notesMaster" Target="/ppt/notesMasters/notesMaster1.xml" Id="Rc9ff442b5c7b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a4c4f6cc8d4712" /><Relationship Type="http://schemas.openxmlformats.org/officeDocument/2006/relationships/notesMaster" Target="/ppt/notesMasters/notesMaster1.xml" Id="R2dd259add7ef41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da5bcfa344aab" /><Relationship Type="http://schemas.openxmlformats.org/officeDocument/2006/relationships/notesMaster" Target="/ppt/notesMasters/notesMaster1.xml" Id="R060290732416425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c04e1093f74ba8" /><Relationship Type="http://schemas.openxmlformats.org/officeDocument/2006/relationships/notesMaster" Target="/ppt/notesMasters/notesMaster1.xml" Id="Rcde1231bea7d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ff7e699c084325" /><Relationship Type="http://schemas.openxmlformats.org/officeDocument/2006/relationships/notesMaster" Target="/ppt/notesMasters/notesMaster1.xml" Id="R6aa5ebbea72843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eeec36ccc7403e" /><Relationship Type="http://schemas.openxmlformats.org/officeDocument/2006/relationships/notesMaster" Target="/ppt/notesMasters/notesMaster1.xml" Id="Raecd366fbe8740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95eb17ab14e9c" /><Relationship Type="http://schemas.openxmlformats.org/officeDocument/2006/relationships/notesMaster" Target="/ppt/notesMasters/notesMaster1.xml" Id="R473bb38733d74b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6b62cb71ab44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a69d5759bf479e" /><Relationship Type="http://schemas.openxmlformats.org/officeDocument/2006/relationships/slideLayout" Target="/ppt/slideLayouts/slideLayout1.xml" Id="Rc18cdddfe30c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8cdddfe30c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01edf17934c27" /><Relationship Type="http://schemas.openxmlformats.org/officeDocument/2006/relationships/image" Target="/ppt/media/image.png" Id="R5f7f0da4b30c40bd" /><Relationship Type="http://schemas.openxmlformats.org/officeDocument/2006/relationships/notesSlide" Target="/ppt/notesSlides/notesSlide1.xml" Id="R2a22d179ace643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7981d72484e89" /><Relationship Type="http://schemas.openxmlformats.org/officeDocument/2006/relationships/notesSlide" Target="/ppt/notesSlides/notesSlide2.xml" Id="R2f09797ca3c242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4e90d00ba6416d" /><Relationship Type="http://schemas.openxmlformats.org/officeDocument/2006/relationships/image" Target="/ppt/media/image2.png" Id="R43164676de994549" /><Relationship Type="http://schemas.openxmlformats.org/officeDocument/2006/relationships/notesSlide" Target="/ppt/notesSlides/notesSlide3.xml" Id="Ra8c5789767694c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417d2643374955" /><Relationship Type="http://schemas.openxmlformats.org/officeDocument/2006/relationships/image" Target="/ppt/media/image3.png" Id="Ra8bdf72c164449bd" /><Relationship Type="http://schemas.openxmlformats.org/officeDocument/2006/relationships/notesSlide" Target="/ppt/notesSlides/notesSlide4.xml" Id="R3e9fb6a83d824b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36ce25f844073" /><Relationship Type="http://schemas.openxmlformats.org/officeDocument/2006/relationships/image" Target="/ppt/media/image4.png" Id="R51aa7c0d9b3a4761" /><Relationship Type="http://schemas.openxmlformats.org/officeDocument/2006/relationships/notesSlide" Target="/ppt/notesSlides/notesSlide5.xml" Id="Rcb0ba8b182514d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22132725a4c6d" /><Relationship Type="http://schemas.openxmlformats.org/officeDocument/2006/relationships/image" Target="/ppt/media/image5.png" Id="Rc1b8578bac434997" /><Relationship Type="http://schemas.openxmlformats.org/officeDocument/2006/relationships/notesSlide" Target="/ppt/notesSlides/notesSlide6.xml" Id="Rc1d2d8ef68a24f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86da6ecdcd43b5" /><Relationship Type="http://schemas.openxmlformats.org/officeDocument/2006/relationships/image" Target="/ppt/media/image6.png" Id="R053bc1646767482b" /><Relationship Type="http://schemas.openxmlformats.org/officeDocument/2006/relationships/notesSlide" Target="/ppt/notesSlides/notesSlide7.xml" Id="R21a492991c8541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7079333214829" /><Relationship Type="http://schemas.openxmlformats.org/officeDocument/2006/relationships/image" Target="/ppt/media/image7.png" Id="R31cbf6aabd984839" /><Relationship Type="http://schemas.openxmlformats.org/officeDocument/2006/relationships/notesSlide" Target="/ppt/notesSlides/notesSlide8.xml" Id="R14f9da5d869249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0da4b30c40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3A29D-BAF0-4F97-87C4-7AF53EAA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43050"/>
            <a:ext cx="6762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Cross-Modal Generative Alignment for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Document, Chart, and Image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7738F9-88D2-4E9F-8D5E-BC1C3882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14625"/>
            <a:ext cx="638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Komron Valijonov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Supervisor: Raja Hashim Ali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94C15A-C8DD-49F4-AE24-3A6328E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6381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Thesis Presentation | University of Europe for Applied Sciences</a:t>
            </a:r>
          </a:p>
        </p:txBody>
      </p:sp>
    </p:spTree>
    <p:extLst>
      <p:ext uri="{BB962C8B-B14F-4D97-AF65-F5344CB8AC3E}">
        <p14:creationId xmlns:p14="http://schemas.microsoft.com/office/powerpoint/2010/main" val="10056340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7C48AC-4F7F-4E01-BEF5-0A89503C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3F2823-A387-44D3-8E3D-63CC6217E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971550"/>
            <a:ext cx="2971800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DA4E-F66F-4D6D-8EDD-9890989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62865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E586D-6DD9-4A2B-9843-0AEAE963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97155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16E883-27C5-49C2-9568-C48B0F96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38112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4CA27-AF4B-4392-855C-DCEC9F5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123950"/>
            <a:ext cx="3429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- Problem Statement</a:t>
            </a:r>
          </a:p>
          <a:p xmlns:a="http://schemas.openxmlformats.org/drawingml/2006/main">
            <a:pPr algn="l">
              <a:defRPr sz="15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- Research Questions</a:t>
            </a:r>
          </a:p>
          <a:p xmlns:a="http://schemas.openxmlformats.org/drawingml/2006/main">
            <a:pPr algn="l">
              <a:defRPr sz="15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- Literature Review</a:t>
            </a:r>
          </a:p>
          <a:p xmlns:a="http://schemas.openxmlformats.org/drawingml/2006/main">
            <a:pPr algn="l">
              <a:defRPr sz="15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- Plan</a:t>
            </a:r>
          </a:p>
          <a:p xmlns:a="http://schemas.openxmlformats.org/drawingml/2006/main">
            <a:pPr algn="l">
              <a:defRPr sz="15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-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FD735-8F65-4C64-BCE8-479367F7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048375"/>
            <a:ext cx="552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02104F-8506-4361-8AA8-E5094890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205205963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349557-AEC0-4C01-8734-0A30858F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06BD2-9FFB-4477-9A34-2FC16B2D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76400"/>
            <a:ext cx="209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D34BB-EA91-4570-9E76-82FC24E3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71900"/>
            <a:ext cx="209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D6235A-BF75-47EF-BECB-C2D6BD05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95800"/>
            <a:ext cx="209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164676de994549"/>
          <a:stretch xmlns:a="http://schemas.openxmlformats.org/drawingml/2006/main"/>
        </p:blipFill>
        <p:spPr>
          <a:xfrm xmlns:a="http://schemas.openxmlformats.org/drawingml/2006/main">
            <a:off x="11020425" y="710654"/>
            <a:ext cx="514350" cy="2169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83EB4-285F-478D-9F4A-9E9A065C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17B569-1581-4AA5-AF9A-972E324C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95450"/>
            <a:ext cx="9810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Vision-language models can answer visual questions, but current comparisons often mix backbone, data, scale, and objective, making it unclear whether the training signal actually improves faithful reasoning.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A37729-16EE-44B7-8DF3-17DA7518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05150"/>
            <a:ext cx="914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E7C6B-C477-4936-9695-FF47BDE3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971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3810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Structured domains such as documents and charts need answers grounded in visible evidence.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Contrastive, generative, and explanation-aware training are usually tested under different conditions.</a:t>
            </a:r>
          </a:p>
          <a:p xmlns:a="http://schemas.openxmlformats.org/drawingml/2006/main">
            <a:pPr algn="l">
              <a:defRPr sz="157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A plausible rationale is not enough if it is not sensitive to the relevant visual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E3735D-9827-459E-A839-14E9A491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Study focus: isolate the alignment objective under a realistic single-GPU budget.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030648-CD1D-4327-ABC2-326D36B1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500111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456710-403D-4641-A871-5197F68B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D8AB3-F930-4573-ABC2-C4939085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76400"/>
            <a:ext cx="209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E2D9F6-81DE-479E-9B9F-6E694134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71900"/>
            <a:ext cx="209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41A0E-A429-455C-8893-16D4946A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95800"/>
            <a:ext cx="209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df72c164449bd"/>
          <a:stretch xmlns:a="http://schemas.openxmlformats.org/drawingml/2006/main"/>
        </p:blipFill>
        <p:spPr>
          <a:xfrm xmlns:a="http://schemas.openxmlformats.org/drawingml/2006/main">
            <a:off x="11020425" y="710654"/>
            <a:ext cx="514350" cy="2169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8B18EB-EA1A-4E1E-B96B-B9D3491B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5C0B1D-B74C-43E5-B892-9302A20F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1009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Main question: how should resource-constrained VLMs be aligned when the goal is accurate and faithful visual reasoning?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D298D-01F3-4124-9951-7CD2AE14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6E6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23ABAF-3ABD-440D-A0A4-CA702637A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289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Alignment strategy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CCEBD-6D3A-48D6-BCA1-813D8CE1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291465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RQ1: How have VLM alignment strategies evolved?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RQ2: How does BLIP-2 generative alignment compare to BLIP-2 contrastive-enhanced alignment?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23C78-F9B0-472F-8215-D7319030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38375"/>
            <a:ext cx="347662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6E6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5541CC-61DB-4677-A5BA-D49A8CC3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90775"/>
            <a:ext cx="3133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Explanation and faithfulness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B68046-5D11-4263-8C5D-BE79E591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90825"/>
            <a:ext cx="315277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RQ3: Does explanation-aware training improve reasoning accuracy and explanation quality?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RQ5: Does it reduce hallucination and improve rationale faithfulness?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7C148-DE36-4449-91FB-122C5DAE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238375"/>
            <a:ext cx="3333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6E6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8E28F3-D84A-47DB-A564-E1258A22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390775"/>
            <a:ext cx="2990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Robustness and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DD255-0007-47F2-B401-F450DD58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790825"/>
            <a:ext cx="30099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RQ4: Which architectural and training factors matter most across domains?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RQ6: How does QLoRA behave across model scales?</a:t>
            </a:r>
          </a:p>
          <a:p xmlns:a="http://schemas.openxmlformats.org/drawingml/2006/main">
            <a:pPr algn="l">
              <a:defRPr sz="1125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RQ7: How well does alignment transfer to unseen domains?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685859-8C96-4A1F-BE69-B040CC220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The questions are designed to separate objective effects from model size, dataset choice, and evaluation artifacts.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847F0-8942-4350-BEB7-4840077E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180850255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EDB54-CE59-493C-84DA-EE96BA0D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62213-7FFD-4066-BD61-789689E2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76400"/>
            <a:ext cx="209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8DAE0-100B-41F0-BDE6-3993108C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71900"/>
            <a:ext cx="209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C32FE6-84D8-475D-9E94-9AF4847E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95800"/>
            <a:ext cx="209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a7c0d9b3a4761"/>
          <a:stretch xmlns:a="http://schemas.openxmlformats.org/drawingml/2006/main"/>
        </p:blipFill>
        <p:spPr>
          <a:xfrm xmlns:a="http://schemas.openxmlformats.org/drawingml/2006/main">
            <a:off x="11020425" y="710654"/>
            <a:ext cx="514350" cy="2169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37575-204B-4CC7-B1E8-4BC66FD9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E75B7-7954-45A9-A8A3-2ED389135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9906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Recent work supports the study design, but also shows why a fixed-budget objective comparison is still missing.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82F8F-B072-48E4-ACA8-44CACB38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758BB-3A44-4081-B9D1-5ACCDCB4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What current work shows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60D57-1CAB-40DE-92CE-4A7CDABA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4787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Gap this thesis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11DC13-714A-47A7-A796-6500B440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10239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2BE69-ABA5-42E6-A614-FF93B5D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VLM construction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AFEA-A018-479F-BF78-FB7946C4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33650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Backbone, data recipe, resolution, and instruction tuning all change final behavior.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18317-6167-4301-BBC8-9CA77E05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336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Objective gains are hard to attribute when everything changes together.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3DF468-7922-41DC-8A98-4CA801AF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65174-8FA9-4990-93D4-E4179DE0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Text-rich images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AC8F09-E15F-4F54-839B-FC958FE0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0400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Document and chart tasks need OCR, layout, marks, axes, and local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E2FF2-141D-48F3-AA98-6A388A42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004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Structured VQA needs faithfulness checks, not only final-answer scoring.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413E08-15DC-47C6-A562-D6E87B13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7DF4E-ED94-4671-9F68-BC8DED23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Faithfulness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869D2F-45B5-4E63-BB6D-1AA67DAE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67150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Hallucination and critique benchmarks expose visually unsupported reasoning.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09782-5B3B-483C-9B33-E439D557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6715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Need evidence sensitivity beside rationale quality.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575334-5E86-4A73-95D8-DDD11C89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E6C408-F2F6-43AC-98E1-590F84F0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Efficient adaptation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514F4F-3C65-4204-AACD-61A51BDD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33900"/>
            <a:ext cx="3667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DoRA/QLoRA-style methods make low-budget adaptation realistic.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D6C67-6FA9-4983-86D1-6D9D49D6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533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Need a controlled single-GPU protocol rather than leaderboard chasing.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569D4-6A9C-48B6-8491-39CD91E2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239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5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ACE65-7843-4D18-A887-05171D28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952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Representative sources: Laurencon et al. 2024; Wang et al. 2024; Fu et al. 2025; Masry et al. 2024/2025; Liu et al. 2024.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393835-90DC-4448-835E-E62F7D4E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125994943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9996A9-4BE9-4AF8-A5CB-B5DB0220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967EEF-9CC4-438C-9B65-E8FC6CE6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76400"/>
            <a:ext cx="209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0C561-4EF2-4795-BE6E-089AE40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71900"/>
            <a:ext cx="209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4266D-1075-4BFA-8B78-2306EA72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95800"/>
            <a:ext cx="209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8578bac434997"/>
          <a:stretch xmlns:a="http://schemas.openxmlformats.org/drawingml/2006/main"/>
        </p:blipFill>
        <p:spPr>
          <a:xfrm xmlns:a="http://schemas.openxmlformats.org/drawingml/2006/main">
            <a:off x="11020425" y="710654"/>
            <a:ext cx="514350" cy="2169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42BE2E-E866-489F-B3BE-DBF4EA8B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06A79-1841-4516-9687-735C451C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Methodology and execution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F5B45-A1F1-48E5-B663-D8EF1CD5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838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2222"/>
                </a:solidFill>
                <a:latin typeface="Aptos"/>
                <a:ea typeface="Aptos"/>
                <a:cs typeface="Aptos"/>
              </a:rPr>
              <a:t>Registration date: [insert date]     Submission deadline: [insert deadline]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9588C1-3B8A-4C2B-BA1F-2960CAA1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A3821-BA96-4797-B3D8-8F8DE734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54E9B-358A-43F9-855F-94BA9FD0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Survey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C58FB-2976-43BE-9DB2-50973C01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F0EB8-8BD7-4129-AF31-2A0C41D6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Implement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56117B-9A19-40CB-B8C3-BCD5CC3E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8E6F2-E7E6-4EA0-8865-8B62E7DF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GPU runs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436463-9D8A-4A00-976B-2D5AECCB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4DD80-087B-4048-BD8A-A3C5794D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E4AFB-14A5-4D62-ACF6-EF72858B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A3A53-7E48-4FE6-B047-BF860C1D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907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777777"/>
                </a:solidFill>
                <a:latin typeface="Aptos"/>
                <a:ea typeface="Aptos"/>
                <a:cs typeface="Aptos"/>
              </a:rPr>
              <a:t>Write-up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D51AEB-0CD6-483C-A785-5D8D6DE3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57450"/>
            <a:ext cx="952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592CE-15F3-4AEF-9E06-83BABA1A1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Thesis registration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BDBC18-2B34-4212-B5B3-90D02158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146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Literature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5502EB-1208-42D0-9548-E5C499E1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Pipeline + contrastive code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B37FD-6F03-4E48-A2E1-33E721A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Experiment runs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DA4F03-6530-4505-8515-77C4F25E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Tables + discussion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68799-6BD2-42A6-85E2-05AFC456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6670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A75D58-1497-41C2-9665-44C5274F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432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2E1759-6905-466F-9A47-2208E28C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90875"/>
            <a:ext cx="1657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2024-2025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712286-921C-4324-B018-1F4D4D22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576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B2FFBD-CC8C-4DB3-9807-D9BFB287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705225"/>
            <a:ext cx="2419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BLIP-2 / Qwen2-VL framework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D8660-E1B3-45F2-B508-1D5DB333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A77699-FCAC-475A-894C-3078BE67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9575"/>
            <a:ext cx="1847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Colab A100 ledger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C18E55-7900-48ED-9DDA-CCA7A4D8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333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9E6714-8932-490C-A8FE-674938FB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33925"/>
            <a:ext cx="21812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 placeholders -&gt; final claims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9DFB071-9A7D-438C-98C9-BCC8191E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904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9525">
            <a:solidFill>
              <a:srgbClr val="E6E6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05F7F5B-DEE1-44AA-9A01-F4E324A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866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Current status: manuscript and experiment scaffold are ready; empirical claims remain reserved until completed GPU runs produce the result ledger.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0EFA1-2EC8-4B76-8506-26E231A4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19054534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F160B-2F70-4170-99C1-F869ED95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E0C743-225D-4E24-A071-31C9CA7A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676400"/>
            <a:ext cx="2095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5B655-3E15-4E2C-A350-B442656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771900"/>
            <a:ext cx="2095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ABD1A-A785-4D68-8FBF-1138C410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95800"/>
            <a:ext cx="209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0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3bc1646767482b"/>
          <a:stretch xmlns:a="http://schemas.openxmlformats.org/drawingml/2006/main"/>
        </p:blipFill>
        <p:spPr>
          <a:xfrm xmlns:a="http://schemas.openxmlformats.org/drawingml/2006/main">
            <a:off x="11020425" y="710654"/>
            <a:ext cx="514350" cy="21699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131E5-82B7-486A-B09F-0438C21A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47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4DCB3-30E7-4E29-B5CB-949E7D0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3B3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3B35"/>
                </a:solidFill>
                <a:latin typeface="Aptos"/>
                <a:ea typeface="Aptos"/>
                <a:cs typeface="Aptos"/>
              </a:rPr>
              <a:t>Selected references used in the thesis scaffold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25007-E5A4-4875-B6E1-A0F62CA2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Laurencon et al. (2024), What Matters When Building Vision-Language Models?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Wang et al. (2024), Qwen2-VL technical report.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Li et al. (2025), LLaVA-OneVision.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Fu et al. (2025), Text-rich image understanding survey.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Wang et al. (2024), DocLLM.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D48C0-21FD-47AC-8829-966E56BA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953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Masry et al. (2024), ChartInstruct.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Masry et al. (2025), ChartGemma.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Guan et al. (2024), HallusionBench.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Jiang et al. (2024), Hallucination Augmented Contrastive Learning.</a:t>
            </a:r>
          </a:p>
          <a:p xmlns:a="http://schemas.openxmlformats.org/drawingml/2006/main">
            <a:pPr algn="l">
              <a:defRPr sz="1163" b="0">
                <a:solidFill>
                  <a:srgbClr val="222222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222222"/>
                </a:solidFill>
                <a:latin typeface="Aptos"/>
                <a:ea typeface="Aptos"/>
                <a:cs typeface="Aptos"/>
              </a:rPr>
              <a:t>- Liu et al. (2024), DoRA, ICML/PMLR.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8A091-9DAF-41C2-8331-9DFB5F27E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D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E33F2-AC61-45CF-8694-5B59284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895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Full bibliography is intentionally restricted to 2024-2025 sources, with result-dependent claims left open until experiments finish.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83B11-24A9-44E5-9245-AEC30A00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3412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University of Applied Sciences Europe</a:t>
            </a:r>
          </a:p>
        </p:txBody>
      </p:sp>
    </p:spTree>
    <p:extLst>
      <p:ext uri="{BB962C8B-B14F-4D97-AF65-F5344CB8AC3E}">
        <p14:creationId xmlns:p14="http://schemas.microsoft.com/office/powerpoint/2010/main" val="209599655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bf6aabd9848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00B9D-BF98-4D3A-9F30-676F7CE9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4476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54043-B0A2-4E47-9703-7073249B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67050"/>
            <a:ext cx="4476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Questions and feedback</a:t>
            </a:r>
          </a:p>
        </p:txBody>
      </p:sp>
    </p:spTree>
    <p:extLst>
      <p:ext uri="{BB962C8B-B14F-4D97-AF65-F5344CB8AC3E}">
        <p14:creationId xmlns:p14="http://schemas.microsoft.com/office/powerpoint/2010/main" val="471622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2026-06-02T06:52:05.0200000Z</dcterms:created>
  <dcterms:modified xsi:type="dcterms:W3CDTF">2026-06-02T06:52:05.0200000Z</dcterms:modified>
</coreProperties>
</file>